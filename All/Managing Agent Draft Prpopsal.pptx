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9"/>
  </p:notesMasterIdLst>
  <p:sldIdLst>
    <p:sldId id="256" r:id="rId2"/>
    <p:sldId id="257" r:id="rId3"/>
    <p:sldId id="261" r:id="rId4"/>
    <p:sldId id="258" r:id="rId5"/>
    <p:sldId id="259" r:id="rId6"/>
    <p:sldId id="262" r:id="rId7"/>
    <p:sldId id="260" r:id="rId8"/>
  </p:sldIdLst>
  <p:sldSz cx="16256000" cy="10160000"/>
  <p:notesSz cx="16256000" cy="10160000"/>
  <p:embeddedFontLst>
    <p:embeddedFont>
      <p:font typeface="Arial Black" panose="020B0604020202020204" pitchFamily="34" charset="0"/>
      <p:regular r:id="rId10"/>
      <p:bold r:id="rId11"/>
    </p:embeddedFont>
    <p:embeddedFont>
      <p:font typeface="Roboto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04"/>
  </p:normalViewPr>
  <p:slideViewPr>
    <p:cSldViewPr snapToGrid="0">
      <p:cViewPr varScale="1">
        <p:scale>
          <a:sx n="71" d="100"/>
          <a:sy n="71" d="100"/>
        </p:scale>
        <p:origin x="12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09875" y="762000"/>
            <a:ext cx="10837875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625600" y="4826000"/>
            <a:ext cx="13004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1625600" y="4826000"/>
            <a:ext cx="130048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080000" y="762000"/>
            <a:ext cx="6097588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6813db6d2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080000" y="762000"/>
            <a:ext cx="6096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26813db6d2b_1_0:notes"/>
          <p:cNvSpPr txBox="1">
            <a:spLocks noGrp="1"/>
          </p:cNvSpPr>
          <p:nvPr>
            <p:ph type="body" idx="1"/>
          </p:nvPr>
        </p:nvSpPr>
        <p:spPr>
          <a:xfrm>
            <a:off x="1625600" y="4826000"/>
            <a:ext cx="130047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8325" tIns="178325" rIns="178325" bIns="17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a6b74458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080000" y="762000"/>
            <a:ext cx="6096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g28a6b74458b_1_0:notes"/>
          <p:cNvSpPr txBox="1">
            <a:spLocks noGrp="1"/>
          </p:cNvSpPr>
          <p:nvPr>
            <p:ph type="body" idx="1"/>
          </p:nvPr>
        </p:nvSpPr>
        <p:spPr>
          <a:xfrm>
            <a:off x="1625600" y="4826000"/>
            <a:ext cx="130047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8325" tIns="178325" rIns="178325" bIns="17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3331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a6b74458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080000" y="762000"/>
            <a:ext cx="6096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g28a6b74458b_1_0:notes"/>
          <p:cNvSpPr txBox="1">
            <a:spLocks noGrp="1"/>
          </p:cNvSpPr>
          <p:nvPr>
            <p:ph type="body" idx="1"/>
          </p:nvPr>
        </p:nvSpPr>
        <p:spPr>
          <a:xfrm>
            <a:off x="1625600" y="4826000"/>
            <a:ext cx="130047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8325" tIns="178325" rIns="178325" bIns="17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8a6b74458b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080000" y="762000"/>
            <a:ext cx="6096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g28a6b74458b_1_21:notes"/>
          <p:cNvSpPr txBox="1">
            <a:spLocks noGrp="1"/>
          </p:cNvSpPr>
          <p:nvPr>
            <p:ph type="body" idx="1"/>
          </p:nvPr>
        </p:nvSpPr>
        <p:spPr>
          <a:xfrm>
            <a:off x="1625600" y="4826000"/>
            <a:ext cx="130047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8325" tIns="178325" rIns="178325" bIns="17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8a6b74458b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080000" y="762000"/>
            <a:ext cx="6096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g28a6b74458b_1_21:notes"/>
          <p:cNvSpPr txBox="1">
            <a:spLocks noGrp="1"/>
          </p:cNvSpPr>
          <p:nvPr>
            <p:ph type="body" idx="1"/>
          </p:nvPr>
        </p:nvSpPr>
        <p:spPr>
          <a:xfrm>
            <a:off x="1625600" y="4826000"/>
            <a:ext cx="130047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8325" tIns="178325" rIns="178325" bIns="17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5419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8138cf4c4_0_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9875" y="762000"/>
            <a:ext cx="108378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68138cf4c4_0_593:notes"/>
          <p:cNvSpPr txBox="1">
            <a:spLocks noGrp="1"/>
          </p:cNvSpPr>
          <p:nvPr>
            <p:ph type="body" idx="1"/>
          </p:nvPr>
        </p:nvSpPr>
        <p:spPr>
          <a:xfrm>
            <a:off x="1625600" y="4826000"/>
            <a:ext cx="130047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obj">
  <p:cSld name="OBJECT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876298" y="1060743"/>
            <a:ext cx="5647055" cy="73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650" b="0" i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11704320" y="9448800"/>
            <a:ext cx="3738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1803400" y="9577899"/>
            <a:ext cx="14452600" cy="12700"/>
          </a:xfrm>
          <a:custGeom>
            <a:avLst/>
            <a:gdLst/>
            <a:ahLst/>
            <a:cxnLst/>
            <a:rect l="l" t="t" r="r" b="b"/>
            <a:pathLst>
              <a:path w="14452600" h="12700" extrusionOk="0">
                <a:moveTo>
                  <a:pt x="0" y="12700"/>
                </a:moveTo>
                <a:lnTo>
                  <a:pt x="14452600" y="12700"/>
                </a:lnTo>
                <a:lnTo>
                  <a:pt x="144526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C019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0800" y="9271000"/>
            <a:ext cx="982100" cy="359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1803400" y="9577899"/>
            <a:ext cx="14452600" cy="12700"/>
          </a:xfrm>
          <a:custGeom>
            <a:avLst/>
            <a:gdLst/>
            <a:ahLst/>
            <a:cxnLst/>
            <a:rect l="l" t="t" r="r" b="b"/>
            <a:pathLst>
              <a:path w="14452600" h="12700" extrusionOk="0">
                <a:moveTo>
                  <a:pt x="0" y="12700"/>
                </a:moveTo>
                <a:lnTo>
                  <a:pt x="14452600" y="12700"/>
                </a:lnTo>
                <a:lnTo>
                  <a:pt x="144526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 l="19" r="19"/>
          <a:stretch/>
        </p:blipFill>
        <p:spPr>
          <a:xfrm>
            <a:off x="630800" y="9271000"/>
            <a:ext cx="982098" cy="359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876298" y="1060743"/>
            <a:ext cx="5647055" cy="73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650" b="0" i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812800" y="2336800"/>
            <a:ext cx="14630400" cy="6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ftr" idx="11"/>
          </p:nvPr>
        </p:nvSpPr>
        <p:spPr>
          <a:xfrm>
            <a:off x="5527040" y="9448800"/>
            <a:ext cx="520192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dt" idx="10"/>
          </p:nvPr>
        </p:nvSpPr>
        <p:spPr>
          <a:xfrm>
            <a:off x="812800" y="9448800"/>
            <a:ext cx="373888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704320" y="9448800"/>
            <a:ext cx="3738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ctrTitle"/>
          </p:nvPr>
        </p:nvSpPr>
        <p:spPr>
          <a:xfrm>
            <a:off x="1219200" y="3149600"/>
            <a:ext cx="138176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650" b="0" i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2438400" y="5689600"/>
            <a:ext cx="11379200" cy="2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ftr" idx="11"/>
          </p:nvPr>
        </p:nvSpPr>
        <p:spPr>
          <a:xfrm>
            <a:off x="5527040" y="9448800"/>
            <a:ext cx="520192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dt" idx="10"/>
          </p:nvPr>
        </p:nvSpPr>
        <p:spPr>
          <a:xfrm>
            <a:off x="812800" y="9448800"/>
            <a:ext cx="373888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1704320" y="9448800"/>
            <a:ext cx="3738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ftr" idx="11"/>
          </p:nvPr>
        </p:nvSpPr>
        <p:spPr>
          <a:xfrm>
            <a:off x="5527040" y="9448800"/>
            <a:ext cx="520192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dt" idx="10"/>
          </p:nvPr>
        </p:nvSpPr>
        <p:spPr>
          <a:xfrm>
            <a:off x="812800" y="9448800"/>
            <a:ext cx="373888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704320" y="9448800"/>
            <a:ext cx="3738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554133" y="879062"/>
            <a:ext cx="15147600" cy="11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550" tIns="168550" rIns="168550" bIns="16855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554133" y="2276494"/>
            <a:ext cx="15147600" cy="6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550" tIns="168550" rIns="168550" bIns="168550" anchor="t" anchorCtr="0">
            <a:normAutofit/>
          </a:bodyPr>
          <a:lstStyle>
            <a:lvl1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●"/>
              <a:defRPr sz="2600"/>
            </a:lvl1pPr>
            <a:lvl2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2pPr>
            <a:lvl3pPr marL="1371600" lvl="2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3pPr>
            <a:lvl4pPr marL="1828800" lvl="3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4pPr>
            <a:lvl5pPr marL="2286000" lvl="4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5pPr>
            <a:lvl6pPr marL="2743200" lvl="5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6pPr>
            <a:lvl7pPr marL="3200400" lvl="6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7pPr>
            <a:lvl8pPr marL="3657600" lvl="7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8pPr>
            <a:lvl9pPr marL="4114800" lvl="8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15062148" y="9211293"/>
            <a:ext cx="975600" cy="7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550" tIns="168550" rIns="168550" bIns="1685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ctrTitle"/>
          </p:nvPr>
        </p:nvSpPr>
        <p:spPr>
          <a:xfrm>
            <a:off x="554148" y="1470765"/>
            <a:ext cx="15147600" cy="40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550" tIns="168550" rIns="168550" bIns="16855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ubTitle" idx="1"/>
          </p:nvPr>
        </p:nvSpPr>
        <p:spPr>
          <a:xfrm>
            <a:off x="554133" y="5598272"/>
            <a:ext cx="15147600" cy="15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550" tIns="168550" rIns="168550" bIns="16855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15062148" y="9211293"/>
            <a:ext cx="975600" cy="7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550" tIns="168550" rIns="168550" bIns="1685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76298" y="1060743"/>
            <a:ext cx="5647055" cy="73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5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803400" y="9577899"/>
            <a:ext cx="14452600" cy="12700"/>
          </a:xfrm>
          <a:custGeom>
            <a:avLst/>
            <a:gdLst/>
            <a:ahLst/>
            <a:cxnLst/>
            <a:rect l="l" t="t" r="r" b="b"/>
            <a:pathLst>
              <a:path w="14452600" h="12700" extrusionOk="0">
                <a:moveTo>
                  <a:pt x="0" y="12700"/>
                </a:moveTo>
                <a:lnTo>
                  <a:pt x="14452600" y="12700"/>
                </a:lnTo>
                <a:lnTo>
                  <a:pt x="144526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C019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0800" y="9271000"/>
            <a:ext cx="982100" cy="35979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ani@inhomemedia.io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5320033" y="10156945"/>
            <a:ext cx="4923790" cy="0"/>
          </a:xfrm>
          <a:custGeom>
            <a:avLst/>
            <a:gdLst/>
            <a:ahLst/>
            <a:cxnLst/>
            <a:rect l="l" t="t" r="r" b="b"/>
            <a:pathLst>
              <a:path w="4923790" h="120000" extrusionOk="0">
                <a:moveTo>
                  <a:pt x="0" y="0"/>
                </a:moveTo>
                <a:lnTo>
                  <a:pt x="4923471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" name="Google Shape;46;p9"/>
          <p:cNvPicPr preferRelativeResize="0"/>
          <p:nvPr/>
        </p:nvPicPr>
        <p:blipFill rotWithShape="1">
          <a:blip r:embed="rId3">
            <a:alphaModFix/>
          </a:blip>
          <a:srcRect l="14233" r="17169"/>
          <a:stretch/>
        </p:blipFill>
        <p:spPr>
          <a:xfrm>
            <a:off x="0" y="0"/>
            <a:ext cx="16256000" cy="1021774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876300" y="2928450"/>
            <a:ext cx="7495200" cy="4562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8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9700" b="1" dirty="0">
                <a:latin typeface="Arial"/>
                <a:ea typeface="Arial"/>
                <a:cs typeface="Arial"/>
                <a:sym typeface="Arial"/>
              </a:rPr>
              <a:t>Digital Signage</a:t>
            </a:r>
            <a:br>
              <a:rPr lang="en-US" sz="9700" b="1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9700" b="1" dirty="0">
                <a:latin typeface="Arial"/>
                <a:ea typeface="Arial"/>
                <a:cs typeface="Arial"/>
                <a:sym typeface="Arial"/>
              </a:rPr>
              <a:t>Proposal</a:t>
            </a:r>
            <a:endParaRPr sz="11650" dirty="0">
              <a:solidFill>
                <a:srgbClr val="0C019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70575" y="8518975"/>
            <a:ext cx="2711849" cy="9930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oogle Shape;49;p9"/>
          <p:cNvGrpSpPr/>
          <p:nvPr/>
        </p:nvGrpSpPr>
        <p:grpSpPr>
          <a:xfrm>
            <a:off x="876300" y="8864075"/>
            <a:ext cx="3123300" cy="648000"/>
            <a:chOff x="2760300" y="1334800"/>
            <a:chExt cx="3123300" cy="648000"/>
          </a:xfrm>
        </p:grpSpPr>
        <p:sp>
          <p:nvSpPr>
            <p:cNvPr id="50" name="Google Shape;50;p9"/>
            <p:cNvSpPr/>
            <p:nvPr/>
          </p:nvSpPr>
          <p:spPr>
            <a:xfrm>
              <a:off x="2760300" y="1334800"/>
              <a:ext cx="3123300" cy="648000"/>
            </a:xfrm>
            <a:prstGeom prst="roundRect">
              <a:avLst>
                <a:gd name="adj" fmla="val 16667"/>
              </a:avLst>
            </a:prstGeom>
            <a:solidFill>
              <a:srgbClr val="F7CF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51" name="Google Shape;51;p9"/>
            <p:cNvSpPr txBox="1"/>
            <p:nvPr/>
          </p:nvSpPr>
          <p:spPr>
            <a:xfrm>
              <a:off x="2852250" y="1445801"/>
              <a:ext cx="2939400" cy="42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17775" rIns="0" bIns="0" anchor="t" anchorCtr="0">
              <a:spAutoFit/>
            </a:bodyPr>
            <a:lstStyle/>
            <a:p>
              <a:pPr marL="1270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50" b="1">
                  <a:solidFill>
                    <a:srgbClr val="232B6E"/>
                  </a:solidFill>
                </a:rPr>
                <a:t>inhomemedia.io</a:t>
              </a:r>
              <a:endParaRPr sz="2650" b="1">
                <a:solidFill>
                  <a:srgbClr val="232B6E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0" y="0"/>
            <a:ext cx="16258203" cy="10159956"/>
            <a:chOff x="0" y="0"/>
            <a:chExt cx="9145125" cy="5143500"/>
          </a:xfrm>
        </p:grpSpPr>
        <p:sp>
          <p:nvSpPr>
            <p:cNvPr id="57" name="Google Shape;57;p10"/>
            <p:cNvSpPr/>
            <p:nvPr/>
          </p:nvSpPr>
          <p:spPr>
            <a:xfrm>
              <a:off x="0" y="0"/>
              <a:ext cx="82200" cy="5143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0" y="0"/>
              <a:ext cx="9144000" cy="8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0"/>
            <p:cNvSpPr/>
            <p:nvPr/>
          </p:nvSpPr>
          <p:spPr>
            <a:xfrm>
              <a:off x="9062925" y="0"/>
              <a:ext cx="82200" cy="5143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0"/>
            <p:cNvSpPr/>
            <p:nvPr/>
          </p:nvSpPr>
          <p:spPr>
            <a:xfrm>
              <a:off x="0" y="5061275"/>
              <a:ext cx="9144000" cy="8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10"/>
          <p:cNvSpPr txBox="1"/>
          <p:nvPr/>
        </p:nvSpPr>
        <p:spPr>
          <a:xfrm>
            <a:off x="731500" y="1806600"/>
            <a:ext cx="10553700" cy="592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550" tIns="168550" rIns="168550" bIns="168550" anchor="t" anchorCtr="0">
            <a:spAutoFit/>
          </a:bodyPr>
          <a:lstStyle/>
          <a:p>
            <a:pPr marL="254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656B9A"/>
                </a:solidFill>
                <a:latin typeface="Roboto"/>
                <a:ea typeface="Roboto"/>
                <a:cs typeface="Roboto"/>
                <a:sym typeface="Roboto"/>
              </a:rPr>
              <a:t>In-Home Media launched in January 2023, with a simple vision to provide Managing Agents with a nationwide network of digital screens directly in the lift foyer areas of apartment buildings.</a:t>
            </a:r>
            <a:endParaRPr sz="2200" dirty="0">
              <a:solidFill>
                <a:srgbClr val="656B9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54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656B9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656B9A"/>
                </a:solidFill>
                <a:latin typeface="Roboto"/>
                <a:ea typeface="Roboto"/>
                <a:cs typeface="Roboto"/>
                <a:sym typeface="Roboto"/>
              </a:rPr>
              <a:t>We are experts in digital screen communication and work closely with our landlord partners to ensure that our product is ‘best in </a:t>
            </a:r>
            <a:r>
              <a:rPr lang="en-US" sz="2200" dirty="0" err="1">
                <a:solidFill>
                  <a:srgbClr val="656B9A"/>
                </a:solidFill>
                <a:latin typeface="Roboto"/>
                <a:ea typeface="Roboto"/>
                <a:cs typeface="Roboto"/>
                <a:sym typeface="Roboto"/>
              </a:rPr>
              <a:t>class’</a:t>
            </a:r>
            <a:r>
              <a:rPr lang="en-US" sz="2200" dirty="0">
                <a:solidFill>
                  <a:srgbClr val="656B9A"/>
                </a:solidFill>
                <a:latin typeface="Roboto"/>
                <a:ea typeface="Roboto"/>
                <a:cs typeface="Roboto"/>
                <a:sym typeface="Roboto"/>
              </a:rPr>
              <a:t> and provides your tenants direct communication channel specific to their building.</a:t>
            </a:r>
            <a:endParaRPr sz="2200" dirty="0">
              <a:solidFill>
                <a:srgbClr val="656B9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656B9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656B9A"/>
                </a:solidFill>
                <a:latin typeface="Roboto"/>
                <a:ea typeface="Roboto"/>
                <a:cs typeface="Roboto"/>
                <a:sym typeface="Roboto"/>
              </a:rPr>
              <a:t>We will be installed into 400 apartment buildings by December 2023, reaching over 40,000 people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656B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0"/>
          <p:cNvSpPr txBox="1"/>
          <p:nvPr/>
        </p:nvSpPr>
        <p:spPr>
          <a:xfrm>
            <a:off x="731511" y="652869"/>
            <a:ext cx="88140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550" tIns="168550" rIns="168550" bIns="16855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>
                <a:solidFill>
                  <a:srgbClr val="A825F6"/>
                </a:solidFill>
                <a:latin typeface="Roboto"/>
                <a:ea typeface="Roboto"/>
                <a:cs typeface="Roboto"/>
                <a:sym typeface="Roboto"/>
              </a:rPr>
              <a:t>In-Home Media - About Us</a:t>
            </a:r>
            <a:endParaRPr sz="4400" b="1" i="0" u="none" strike="noStrike" cap="none">
              <a:solidFill>
                <a:srgbClr val="A825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" name="Google Shape;63;p10" descr="A picture containing text, electron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3676" y="4931400"/>
            <a:ext cx="14372900" cy="378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1"/>
          <p:cNvGrpSpPr/>
          <p:nvPr/>
        </p:nvGrpSpPr>
        <p:grpSpPr>
          <a:xfrm>
            <a:off x="0" y="0"/>
            <a:ext cx="16258203" cy="10159956"/>
            <a:chOff x="0" y="0"/>
            <a:chExt cx="9145125" cy="5143500"/>
          </a:xfrm>
        </p:grpSpPr>
        <p:sp>
          <p:nvSpPr>
            <p:cNvPr id="69" name="Google Shape;69;p11"/>
            <p:cNvSpPr/>
            <p:nvPr/>
          </p:nvSpPr>
          <p:spPr>
            <a:xfrm>
              <a:off x="0" y="0"/>
              <a:ext cx="82200" cy="5143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1"/>
            <p:cNvSpPr/>
            <p:nvPr/>
          </p:nvSpPr>
          <p:spPr>
            <a:xfrm>
              <a:off x="0" y="0"/>
              <a:ext cx="9144000" cy="8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1"/>
            <p:cNvSpPr/>
            <p:nvPr/>
          </p:nvSpPr>
          <p:spPr>
            <a:xfrm>
              <a:off x="9062925" y="0"/>
              <a:ext cx="82200" cy="5143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1"/>
            <p:cNvSpPr/>
            <p:nvPr/>
          </p:nvSpPr>
          <p:spPr>
            <a:xfrm>
              <a:off x="0" y="5061275"/>
              <a:ext cx="9144000" cy="8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11"/>
          <p:cNvSpPr txBox="1"/>
          <p:nvPr/>
        </p:nvSpPr>
        <p:spPr>
          <a:xfrm>
            <a:off x="731500" y="1564575"/>
            <a:ext cx="10553700" cy="9481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550" tIns="168550" rIns="168550" bIns="16855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200" dirty="0">
                <a:solidFill>
                  <a:srgbClr val="656B9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IHM understands the drive to support effective communication within buildings</a:t>
            </a: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200" dirty="0">
                <a:solidFill>
                  <a:srgbClr val="656B9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screens have driven down inbound call volumes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GB"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200" dirty="0">
                <a:solidFill>
                  <a:srgbClr val="656B9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24/7/365 presence within the building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GB"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200" dirty="0">
                <a:solidFill>
                  <a:srgbClr val="656B9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Removal of notice boards and leaflets – both a fire hazard and unsightly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GB"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200" dirty="0">
                <a:solidFill>
                  <a:srgbClr val="656B9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Integration with Managing Agent platforms such as </a:t>
            </a:r>
            <a:r>
              <a:rPr lang="en-GB" sz="2200" dirty="0" err="1">
                <a:solidFill>
                  <a:srgbClr val="656B9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Dwellant</a:t>
            </a:r>
            <a:r>
              <a:rPr lang="en-GB" sz="2200" dirty="0">
                <a:solidFill>
                  <a:srgbClr val="656B9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– automatically update screens from your portal</a:t>
            </a: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200" dirty="0">
                <a:solidFill>
                  <a:srgbClr val="656B9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Put legal </a:t>
            </a:r>
            <a:r>
              <a:rPr lang="en-GB" sz="2200" dirty="0" err="1">
                <a:solidFill>
                  <a:srgbClr val="656B9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safenet</a:t>
            </a:r>
            <a:r>
              <a:rPr lang="en-GB" sz="2200" dirty="0">
                <a:solidFill>
                  <a:srgbClr val="656B9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information into buildings via a QR code  (not sure what that is called)</a:t>
            </a: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 dirty="0">
                <a:solidFill>
                  <a:srgbClr val="656B9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Adds value to a freeholders building</a:t>
            </a: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656B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1"/>
          <p:cNvSpPr txBox="1"/>
          <p:nvPr/>
        </p:nvSpPr>
        <p:spPr>
          <a:xfrm>
            <a:off x="731511" y="652869"/>
            <a:ext cx="8814000" cy="111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550" tIns="168550" rIns="168550" bIns="16855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dirty="0">
                <a:solidFill>
                  <a:srgbClr val="A825F6"/>
                </a:solidFill>
                <a:latin typeface="Roboto"/>
                <a:ea typeface="Roboto"/>
                <a:cs typeface="Roboto"/>
                <a:sym typeface="Roboto"/>
              </a:rPr>
              <a:t>Benefits</a:t>
            </a:r>
            <a:endParaRPr sz="4400" b="1" i="0" u="none" strike="noStrike" cap="none" dirty="0">
              <a:solidFill>
                <a:srgbClr val="A825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4592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1"/>
          <p:cNvGrpSpPr/>
          <p:nvPr/>
        </p:nvGrpSpPr>
        <p:grpSpPr>
          <a:xfrm>
            <a:off x="0" y="0"/>
            <a:ext cx="16258203" cy="10159956"/>
            <a:chOff x="0" y="0"/>
            <a:chExt cx="9145125" cy="5143500"/>
          </a:xfrm>
        </p:grpSpPr>
        <p:sp>
          <p:nvSpPr>
            <p:cNvPr id="69" name="Google Shape;69;p11"/>
            <p:cNvSpPr/>
            <p:nvPr/>
          </p:nvSpPr>
          <p:spPr>
            <a:xfrm>
              <a:off x="0" y="0"/>
              <a:ext cx="82200" cy="5143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1"/>
            <p:cNvSpPr/>
            <p:nvPr/>
          </p:nvSpPr>
          <p:spPr>
            <a:xfrm>
              <a:off x="0" y="0"/>
              <a:ext cx="9144000" cy="8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1"/>
            <p:cNvSpPr/>
            <p:nvPr/>
          </p:nvSpPr>
          <p:spPr>
            <a:xfrm>
              <a:off x="9062925" y="0"/>
              <a:ext cx="82200" cy="5143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1"/>
            <p:cNvSpPr/>
            <p:nvPr/>
          </p:nvSpPr>
          <p:spPr>
            <a:xfrm>
              <a:off x="0" y="5061275"/>
              <a:ext cx="9144000" cy="8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11"/>
          <p:cNvSpPr txBox="1"/>
          <p:nvPr/>
        </p:nvSpPr>
        <p:spPr>
          <a:xfrm>
            <a:off x="731500" y="1564575"/>
            <a:ext cx="10553700" cy="6942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550" tIns="168550" rIns="168550" bIns="16855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200" dirty="0">
                <a:solidFill>
                  <a:srgbClr val="656B9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Add air analysis and publish direct to your tenants</a:t>
            </a: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200" dirty="0">
                <a:solidFill>
                  <a:srgbClr val="656B9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All capex and installation costs – free of charge</a:t>
            </a: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200" dirty="0">
                <a:solidFill>
                  <a:srgbClr val="656B9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Onboarding and training in the portal and screen access provided</a:t>
            </a: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200" dirty="0">
                <a:solidFill>
                  <a:srgbClr val="656B9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Specific screen templates produced to ensure quality of the content – specific building branding available</a:t>
            </a: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200" dirty="0">
                <a:solidFill>
                  <a:srgbClr val="656B9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Dedicated account management team to support roll out and additional services as they become available.</a:t>
            </a: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656B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1"/>
          <p:cNvSpPr txBox="1"/>
          <p:nvPr/>
        </p:nvSpPr>
        <p:spPr>
          <a:xfrm>
            <a:off x="731511" y="652869"/>
            <a:ext cx="8814000" cy="111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550" tIns="168550" rIns="168550" bIns="16855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dirty="0">
                <a:solidFill>
                  <a:srgbClr val="A825F6"/>
                </a:solidFill>
                <a:latin typeface="Roboto"/>
                <a:ea typeface="Roboto"/>
                <a:cs typeface="Roboto"/>
                <a:sym typeface="Roboto"/>
              </a:rPr>
              <a:t>Benefits</a:t>
            </a:r>
            <a:endParaRPr sz="4400" b="1" i="0" u="none" strike="noStrike" cap="none" dirty="0">
              <a:solidFill>
                <a:srgbClr val="A825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12"/>
          <p:cNvGrpSpPr/>
          <p:nvPr/>
        </p:nvGrpSpPr>
        <p:grpSpPr>
          <a:xfrm>
            <a:off x="0" y="0"/>
            <a:ext cx="16258203" cy="10159956"/>
            <a:chOff x="0" y="0"/>
            <a:chExt cx="9145125" cy="5143500"/>
          </a:xfrm>
        </p:grpSpPr>
        <p:sp>
          <p:nvSpPr>
            <p:cNvPr id="80" name="Google Shape;80;p12"/>
            <p:cNvSpPr/>
            <p:nvPr/>
          </p:nvSpPr>
          <p:spPr>
            <a:xfrm>
              <a:off x="0" y="0"/>
              <a:ext cx="82200" cy="5143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2"/>
            <p:cNvSpPr/>
            <p:nvPr/>
          </p:nvSpPr>
          <p:spPr>
            <a:xfrm>
              <a:off x="0" y="0"/>
              <a:ext cx="9144000" cy="8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>
              <a:off x="9062925" y="0"/>
              <a:ext cx="82200" cy="5143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>
              <a:off x="0" y="5061275"/>
              <a:ext cx="9144000" cy="8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12"/>
          <p:cNvSpPr txBox="1"/>
          <p:nvPr/>
        </p:nvSpPr>
        <p:spPr>
          <a:xfrm>
            <a:off x="731500" y="1564575"/>
            <a:ext cx="10553700" cy="389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550" tIns="168550" rIns="168550" bIns="16855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 dirty="0">
                <a:solidFill>
                  <a:srgbClr val="656B9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All capex covered by IHM and ongoing maintenance and support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656B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2"/>
          <p:cNvSpPr txBox="1"/>
          <p:nvPr/>
        </p:nvSpPr>
        <p:spPr>
          <a:xfrm>
            <a:off x="731511" y="652869"/>
            <a:ext cx="88140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550" tIns="168550" rIns="168550" bIns="16855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>
                <a:solidFill>
                  <a:srgbClr val="A825F6"/>
                </a:solidFill>
                <a:latin typeface="Roboto"/>
                <a:ea typeface="Roboto"/>
                <a:cs typeface="Roboto"/>
                <a:sym typeface="Roboto"/>
              </a:rPr>
              <a:t>Commercials</a:t>
            </a:r>
            <a:endParaRPr sz="4400" b="1" i="0" u="none" strike="noStrike" cap="none">
              <a:solidFill>
                <a:srgbClr val="A825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3DEFFD-5DF6-2F44-78B7-E952D3495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99" y="3072674"/>
            <a:ext cx="13988547" cy="48532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12"/>
          <p:cNvGrpSpPr/>
          <p:nvPr/>
        </p:nvGrpSpPr>
        <p:grpSpPr>
          <a:xfrm>
            <a:off x="0" y="0"/>
            <a:ext cx="16258203" cy="10159956"/>
            <a:chOff x="0" y="0"/>
            <a:chExt cx="9145125" cy="5143500"/>
          </a:xfrm>
        </p:grpSpPr>
        <p:sp>
          <p:nvSpPr>
            <p:cNvPr id="80" name="Google Shape;80;p12"/>
            <p:cNvSpPr/>
            <p:nvPr/>
          </p:nvSpPr>
          <p:spPr>
            <a:xfrm>
              <a:off x="0" y="0"/>
              <a:ext cx="82200" cy="5143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2"/>
            <p:cNvSpPr/>
            <p:nvPr/>
          </p:nvSpPr>
          <p:spPr>
            <a:xfrm>
              <a:off x="0" y="0"/>
              <a:ext cx="9144000" cy="8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>
              <a:off x="9062925" y="0"/>
              <a:ext cx="82200" cy="5143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>
              <a:off x="0" y="5061275"/>
              <a:ext cx="9144000" cy="8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8550" tIns="168550" rIns="168550" bIns="1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12"/>
          <p:cNvSpPr txBox="1"/>
          <p:nvPr/>
        </p:nvSpPr>
        <p:spPr>
          <a:xfrm>
            <a:off x="731500" y="1564575"/>
            <a:ext cx="10553700" cy="389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550" tIns="168550" rIns="168550" bIns="16855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 dirty="0">
                <a:solidFill>
                  <a:srgbClr val="656B9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If Ad space is sold on the screen the below Ad revenue offset will be available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solidFill>
                <a:srgbClr val="656B9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656B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2"/>
          <p:cNvSpPr txBox="1"/>
          <p:nvPr/>
        </p:nvSpPr>
        <p:spPr>
          <a:xfrm>
            <a:off x="731511" y="652869"/>
            <a:ext cx="88140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550" tIns="168550" rIns="168550" bIns="16855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>
                <a:solidFill>
                  <a:srgbClr val="A825F6"/>
                </a:solidFill>
                <a:latin typeface="Roboto"/>
                <a:ea typeface="Roboto"/>
                <a:cs typeface="Roboto"/>
                <a:sym typeface="Roboto"/>
              </a:rPr>
              <a:t>Commercials</a:t>
            </a:r>
            <a:endParaRPr sz="4400" b="1" i="0" u="none" strike="noStrike" cap="none">
              <a:solidFill>
                <a:srgbClr val="A825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AC019F-1894-539A-0BCB-5886BEFC1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0" y="3072674"/>
            <a:ext cx="14087400" cy="152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049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825F6"/>
            </a:gs>
            <a:gs pos="100000">
              <a:srgbClr val="0C0197"/>
            </a:gs>
          </a:gsLst>
          <a:lin ang="2700006" scaled="0"/>
        </a:gra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 idx="4294967295"/>
          </p:nvPr>
        </p:nvSpPr>
        <p:spPr>
          <a:xfrm>
            <a:off x="876300" y="3793756"/>
            <a:ext cx="11201700" cy="14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50"/>
              <a:t>Get started today</a:t>
            </a:r>
            <a:endParaRPr sz="9150"/>
          </a:p>
        </p:txBody>
      </p:sp>
      <p:sp>
        <p:nvSpPr>
          <p:cNvPr id="91" name="Google Shape;91;p13"/>
          <p:cNvSpPr txBox="1"/>
          <p:nvPr/>
        </p:nvSpPr>
        <p:spPr>
          <a:xfrm>
            <a:off x="876300" y="7527125"/>
            <a:ext cx="6990000" cy="9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625" rIns="0" bIns="0" anchor="t" anchorCtr="0">
            <a:spAutoFit/>
          </a:bodyPr>
          <a:lstStyle/>
          <a:p>
            <a:pPr marL="12700" marR="5080" lvl="0" indent="0" algn="l" rtl="0">
              <a:lnSpc>
                <a:spcPct val="107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Should you need any further assistance please contact:</a:t>
            </a:r>
            <a:endParaRPr sz="1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266065" lvl="0" indent="0" algn="l" rtl="0">
              <a:lnSpc>
                <a:spcPct val="100000"/>
              </a:lnSpc>
              <a:spcBef>
                <a:spcPts val="95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E-Mail: </a:t>
            </a:r>
            <a:r>
              <a:rPr lang="en-US" sz="1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ani@inhomemedia.io</a:t>
            </a: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Web: Inhomemedia.io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50673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2nd Floor 32-33 Gosfield Street, Fitzrovia, London, England, W1W 6HL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61900" y="7493296"/>
            <a:ext cx="2857500" cy="1046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299</Words>
  <Application>Microsoft Macintosh PowerPoint</Application>
  <PresentationFormat>Custom</PresentationFormat>
  <Paragraphs>49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Roboto</vt:lpstr>
      <vt:lpstr>Arial Black</vt:lpstr>
      <vt:lpstr>Arial</vt:lpstr>
      <vt:lpstr>Office Theme</vt:lpstr>
      <vt:lpstr>Digital Signage Proposal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Get started today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 Proposal</dc:title>
  <cp:lastModifiedBy>Ian Handy</cp:lastModifiedBy>
  <cp:revision>4</cp:revision>
  <dcterms:modified xsi:type="dcterms:W3CDTF">2023-11-20T16:15:30Z</dcterms:modified>
</cp:coreProperties>
</file>